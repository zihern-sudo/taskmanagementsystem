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0"/>
            <a:ext cx="12188952" cy="356616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645920"/>
            <a:ext cx="228600" cy="3566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</a:rPr>
              <a:t>TASK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A78BFA"/>
                </a:solidFill>
              </a:rPr>
              <a:t>AI-Assisted Development with Claude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3832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9CA3AF"/>
                </a:solidFill>
              </a:rPr>
              <a:t>A Research Experiment — Anthropic Claude Code Pro Plan</a:t>
            </a:r>
          </a:p>
        </p:txBody>
      </p:sp>
      <p:sp>
        <p:nvSpPr>
          <p:cNvPr id="8" name="Rectangle 7"/>
          <p:cNvSpPr/>
          <p:nvPr/>
        </p:nvSpPr>
        <p:spPr>
          <a:xfrm>
            <a:off x="1920240" y="4206240"/>
            <a:ext cx="155448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93392" y="4224528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Next.js 16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11880" y="4206240"/>
            <a:ext cx="1554480" cy="34747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85032" y="4224528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PostgreSQL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03520" y="4206240"/>
            <a:ext cx="155448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2" y="4224528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Prisma ORM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4206240"/>
            <a:ext cx="155448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68312" y="4224528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TypeScript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4206240"/>
            <a:ext cx="1554480" cy="34747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59952" y="4224528"/>
            <a:ext cx="1417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Tailwind CSS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CA3AF"/>
                </a:solidFill>
              </a:rPr>
              <a:t>March 2026  |  Version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112471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5394960" cy="1097280"/>
          </a:xfrm>
          <a:prstGeom prst="rect">
            <a:avLst/>
          </a:prstGeom>
          <a:solidFill>
            <a:srgbClr val="2D2D44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57200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508760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2801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78BFA"/>
                </a:solidFill>
              </a:rPr>
              <a:t>Project Background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164592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What the experiment is and why it was done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68880"/>
            <a:ext cx="5394960" cy="1097280"/>
          </a:xfrm>
          <a:prstGeom prst="rect">
            <a:avLst/>
          </a:prstGeom>
          <a:solidFill>
            <a:srgbClr val="2D2D44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468880"/>
            <a:ext cx="457200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2788920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25603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78BFA"/>
                </a:solidFill>
              </a:rPr>
              <a:t>Development Timeline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92608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5 phases from scaffold to production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749040"/>
            <a:ext cx="5394960" cy="1097280"/>
          </a:xfrm>
          <a:prstGeom prst="rect">
            <a:avLst/>
          </a:prstGeom>
          <a:solidFill>
            <a:srgbClr val="2D2D44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749040"/>
            <a:ext cx="457200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5488" y="4069080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840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78BFA"/>
                </a:solidFill>
              </a:rPr>
              <a:t>Feature Evolution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20624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How the system expanded over 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029200"/>
            <a:ext cx="5394960" cy="1097280"/>
          </a:xfrm>
          <a:prstGeom prst="rect">
            <a:avLst/>
          </a:prstGeom>
          <a:solidFill>
            <a:srgbClr val="2D2D44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5029200"/>
            <a:ext cx="457200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5349240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12064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78BFA"/>
                </a:solidFill>
              </a:rPr>
              <a:t>Bug → Fix Mapping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48640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17 bugs documented with root causes and fixes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1188720"/>
            <a:ext cx="5394960" cy="1097280"/>
          </a:xfrm>
          <a:prstGeom prst="rect">
            <a:avLst/>
          </a:prstGeom>
          <a:solidFill>
            <a:srgbClr val="2D2D44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60" y="1188720"/>
            <a:ext cx="457200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1508760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12801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78BFA"/>
                </a:solidFill>
              </a:rPr>
              <a:t>Prompt → Result Examples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164592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How AI interaction shaped the code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9360" y="2468880"/>
            <a:ext cx="5394960" cy="1097280"/>
          </a:xfrm>
          <a:prstGeom prst="rect">
            <a:avLst/>
          </a:prstGeom>
          <a:solidFill>
            <a:srgbClr val="2D2D44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09360" y="2468880"/>
            <a:ext cx="457200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27648" y="2788920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25603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78BFA"/>
                </a:solidFill>
              </a:rPr>
              <a:t>Results &amp; Observations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292608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What we learned about AI-assisted development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09360" y="3749040"/>
            <a:ext cx="5394960" cy="1097280"/>
          </a:xfrm>
          <a:prstGeom prst="rect">
            <a:avLst/>
          </a:prstGeom>
          <a:solidFill>
            <a:srgbClr val="2D2D44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09360" y="3749040"/>
            <a:ext cx="457200" cy="10972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27648" y="4069080"/>
            <a:ext cx="42062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38404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78BFA"/>
                </a:solidFill>
              </a:rPr>
              <a:t>Conclusion &amp; Next Steps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4206240"/>
            <a:ext cx="4663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Version 2 roadmap and final thoughts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01 — Project Background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112471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78BFA"/>
                </a:solidFill>
              </a:rPr>
              <a:t>Why This Experiment?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5E7EB"/>
                </a:solidFill>
              </a:rPr>
              <a:t>Instead of analysing Claude Code theoretically, this experiment built a real working system to evaluate whether AI can follow proper coding practices, increase development efficiency, and produce production-level software — not just simple demos.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60320"/>
            <a:ext cx="2743200" cy="1828800"/>
          </a:xfrm>
          <a:prstGeom prst="rect">
            <a:avLst/>
          </a:prstGeom>
          <a:solidFill>
            <a:srgbClr val="2D2D44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651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🎯 Research 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301752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• Understand real-world capability of AI coding tools
• Evaluate code quality, architecture, and best practices
• Measure development speed vs traditional approach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2560320"/>
            <a:ext cx="2743200" cy="1828800"/>
          </a:xfrm>
          <a:prstGeom prst="rect">
            <a:avLst/>
          </a:prstGeom>
          <a:solidFill>
            <a:srgbClr val="2D2D44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651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🛠 Tool Used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01752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• Claude Code by Anthropic (Pro Plan)
• Natural language prompts → working code
• 4-day development session: March 12–16, 2026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2560320"/>
            <a:ext cx="2743200" cy="1828800"/>
          </a:xfrm>
          <a:prstGeom prst="rect">
            <a:avLst/>
          </a:prstGeom>
          <a:solidFill>
            <a:srgbClr val="2D2D44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651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📐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01752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• Full-stack web application — not a toy project
• Production features: auth, CRUD, real-time UI, email
• Version 1 complete; Version 2 planned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0" y="2560320"/>
            <a:ext cx="2743200" cy="1828800"/>
          </a:xfrm>
          <a:prstGeom prst="rect">
            <a:avLst/>
          </a:prstGeom>
          <a:solidFill>
            <a:srgbClr val="2D2D44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81160" y="265176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📊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3017520"/>
            <a:ext cx="24688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• Does the AI follow software engineering best practices?
• Is the output closer to a demo or production software?
• What human oversight is still required?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3550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78BFA"/>
                </a:solidFill>
              </a:rPr>
              <a:t>"The experiment focused on building a working system to evaluate whether AI can assist in the full software development lifecycle."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Overview — What Was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112471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3657600" cy="2011680"/>
          </a:xfrm>
          <a:prstGeom prst="rect">
            <a:avLst/>
          </a:prstGeom>
          <a:solidFill>
            <a:srgbClr val="2D2D44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🔐 Authentication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459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• Email/password + magic link login
• JWT sessions (30-day)
• Email invite flow
• Role-based access (admin/member)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1188720"/>
            <a:ext cx="3657600" cy="2011680"/>
          </a:xfrm>
          <a:prstGeom prst="rect">
            <a:avLst/>
          </a:prstGeom>
          <a:solidFill>
            <a:srgbClr val="2D2D44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280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📋 Task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6459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• Kanban board with drag-and-drop
• List view with sort &amp; filter
• Multi-assignee (up to 5)
• Past-date due date validation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188720"/>
            <a:ext cx="3657600" cy="2011680"/>
          </a:xfrm>
          <a:prstGeom prst="rect">
            <a:avLst/>
          </a:prstGeom>
          <a:solidFill>
            <a:srgbClr val="2D2D44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128016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💬 Collaboration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164592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• Threaded task comments
• Board discussion channel
• Emoji reactions
• @mention + email notifications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383280"/>
            <a:ext cx="3657600" cy="2011680"/>
          </a:xfrm>
          <a:prstGeom prst="rect">
            <a:avLst/>
          </a:prstGeom>
          <a:solidFill>
            <a:srgbClr val="2D2D44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474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👤 User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384048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• Admin CRUD for users
• Invite/revoke flow
• Deactivate/reactivate users
• Profile photos (WebP 256×256)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60" y="3383280"/>
            <a:ext cx="3657600" cy="2011680"/>
          </a:xfrm>
          <a:prstGeom prst="rect">
            <a:avLst/>
          </a:prstGeom>
          <a:solidFill>
            <a:srgbClr val="2D2D44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0" y="3474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🎨 UI/UX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384048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• JIRA-style two-column task modal
• Sonner toast notifications
• Confirm dialogs
• Pagination (10/page)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38160" y="3383280"/>
            <a:ext cx="3657600" cy="2011680"/>
          </a:xfrm>
          <a:prstGeom prst="rect">
            <a:avLst/>
          </a:prstGeom>
          <a:solidFill>
            <a:srgbClr val="2D2D44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20" y="34747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🗄 Tech Stack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840480"/>
            <a:ext cx="33832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• Next.js 16 + React 19 + TypeScript
• PostgreSQL + Prisma 7 ORM
• Tailwind CSS v4
• @dnd-kit drag-and-drop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02 — Development Timeline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112471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1338560" cy="3840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07008"/>
            <a:ext cx="914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Phase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207008"/>
            <a:ext cx="1280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1207008"/>
            <a:ext cx="1005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20700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Focus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120700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Key Deliverables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572768"/>
            <a:ext cx="11338560" cy="82296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572768"/>
            <a:ext cx="164592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1618488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E7EB"/>
                </a:solidFill>
              </a:rPr>
              <a:t>Phase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1618488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Foundation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1618488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March 12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1618488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Project scaffold, Auth API, User Management API, Task API, DB fixes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450592"/>
            <a:ext cx="11338560" cy="82296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450592"/>
            <a:ext cx="164592" cy="8229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496312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E7EB"/>
                </a:solidFill>
              </a:rPr>
              <a:t>Phase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2496312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Core 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2496312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March 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6200" y="2496312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Jira-inspired UI, Kanban board, Invite flow, Magic link, Multi-assignee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328416"/>
            <a:ext cx="11338560" cy="82296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3328416"/>
            <a:ext cx="164592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3374136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E7EB"/>
                </a:solidFill>
              </a:rPr>
              <a:t>Phase 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3374136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Enrichment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88920" y="3374136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March 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86200" y="3374136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Profile photo upload, Avatar display, Emoji reactions, Optimistic UI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206240"/>
            <a:ext cx="11338560" cy="822960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" y="4206240"/>
            <a:ext cx="164592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425196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E7EB"/>
                </a:solidFill>
              </a:rPr>
              <a:t>Phase 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17320" y="4251960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Advanced Features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88920" y="42519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March 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86200" y="4251960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Pagination, Activity feed, Pin comments, @Mentions, JIRA modal, Toasts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084064"/>
            <a:ext cx="11338560" cy="82296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5084064"/>
            <a:ext cx="164592" cy="82296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1480" y="5129784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5E7EB"/>
                </a:solidFill>
              </a:rPr>
              <a:t>Phase 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17320" y="5129784"/>
            <a:ext cx="1188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Validation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88920" y="5129784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March 16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86200" y="5129784"/>
            <a:ext cx="1737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Past due date prevention, Admin self-deactivation guard, Bug hardening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7280" y="638251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78BFA"/>
                </a:solidFill>
              </a:rPr>
              <a:t>46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" y="66202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</a:rPr>
              <a:t>Git Commits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74720" y="638251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78BFA"/>
                </a:solidFill>
              </a:rPr>
              <a:t>27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474720" y="66202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</a:rPr>
              <a:t>Development Steps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52160" y="638251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78BFA"/>
                </a:solidFill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52160" y="66202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</a:rPr>
              <a:t>Bugs Fixed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229600" y="6382512"/>
            <a:ext cx="1097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A78BFA"/>
                </a:solidFill>
              </a:rPr>
              <a:t>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29600" y="6620256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CA3AF"/>
                </a:solidFill>
              </a:rPr>
              <a:t>Days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03 — Feature Evolution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112471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11521440" cy="822960"/>
          </a:xfrm>
          <a:prstGeom prst="rect">
            <a:avLst/>
          </a:prstGeom>
          <a:solidFill>
            <a:srgbClr val="2D2D44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64592" cy="8229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21615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C3AED"/>
                </a:solidFill>
              </a:rPr>
              <a:t>Foundation Layer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234440"/>
            <a:ext cx="1783080" cy="640080"/>
          </a:xfrm>
          <a:prstGeom prst="rect">
            <a:avLst/>
          </a:prstGeom>
          <a:solidFill>
            <a:srgbClr val="1E1E2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42032" y="1325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5E7EB"/>
                </a:solidFill>
              </a:rPr>
              <a:t>Project Scaffold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43399" y="1234440"/>
            <a:ext cx="1783080" cy="640080"/>
          </a:xfrm>
          <a:prstGeom prst="rect">
            <a:avLst/>
          </a:prstGeom>
          <a:solidFill>
            <a:srgbClr val="1E1E2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16551" y="1325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5E7EB"/>
                </a:solidFill>
              </a:rPr>
              <a:t>JWT Auth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18" y="1234440"/>
            <a:ext cx="1783080" cy="640080"/>
          </a:xfrm>
          <a:prstGeom prst="rect">
            <a:avLst/>
          </a:prstGeom>
          <a:solidFill>
            <a:srgbClr val="1E1E2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91070" y="1325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5E7EB"/>
                </a:solidFill>
              </a:rPr>
              <a:t>User CRUD 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37" y="1234440"/>
            <a:ext cx="1783080" cy="640080"/>
          </a:xfrm>
          <a:prstGeom prst="rect">
            <a:avLst/>
          </a:prstGeom>
          <a:solidFill>
            <a:srgbClr val="1E1E2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5589" y="1325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5E7EB"/>
                </a:solidFill>
              </a:rPr>
              <a:t>Task CRUD API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66956" y="1234440"/>
            <a:ext cx="1783080" cy="640080"/>
          </a:xfrm>
          <a:prstGeom prst="rect">
            <a:avLst/>
          </a:prstGeom>
          <a:solidFill>
            <a:srgbClr val="1E1E2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40108" y="132588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5E7EB"/>
                </a:solidFill>
              </a:rPr>
              <a:t>Prisma DB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2148840"/>
            <a:ext cx="11521440" cy="822960"/>
          </a:xfrm>
          <a:prstGeom prst="rect">
            <a:avLst/>
          </a:prstGeom>
          <a:solidFill>
            <a:srgbClr val="2D2D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2148840"/>
            <a:ext cx="164592" cy="8229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22199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</a:rPr>
              <a:t>Core Frontend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80" y="2240280"/>
            <a:ext cx="1783080" cy="640080"/>
          </a:xfrm>
          <a:prstGeom prst="rect">
            <a:avLst/>
          </a:prstGeom>
          <a:solidFill>
            <a:srgbClr val="1E1E2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42032" y="2331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5E7EB"/>
                </a:solidFill>
              </a:rPr>
              <a:t>Kanban Board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43399" y="2240280"/>
            <a:ext cx="1783080" cy="640080"/>
          </a:xfrm>
          <a:prstGeom prst="rect">
            <a:avLst/>
          </a:prstGeom>
          <a:solidFill>
            <a:srgbClr val="1E1E2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16551" y="2331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5E7EB"/>
                </a:solidFill>
              </a:rPr>
              <a:t>List 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17918" y="2240280"/>
            <a:ext cx="1783080" cy="640080"/>
          </a:xfrm>
          <a:prstGeom prst="rect">
            <a:avLst/>
          </a:prstGeom>
          <a:solidFill>
            <a:srgbClr val="1E1E2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0" y="2331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5E7EB"/>
                </a:solidFill>
              </a:rPr>
              <a:t>Task Modal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92437" y="2240280"/>
            <a:ext cx="1783080" cy="640080"/>
          </a:xfrm>
          <a:prstGeom prst="rect">
            <a:avLst/>
          </a:prstGeom>
          <a:solidFill>
            <a:srgbClr val="1E1E2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65589" y="2331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5E7EB"/>
                </a:solidFill>
              </a:rPr>
              <a:t>Comments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966956" y="2240280"/>
            <a:ext cx="1783080" cy="640080"/>
          </a:xfrm>
          <a:prstGeom prst="rect">
            <a:avLst/>
          </a:prstGeom>
          <a:solidFill>
            <a:srgbClr val="1E1E2E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40108" y="23317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5E7EB"/>
                </a:solidFill>
              </a:rPr>
              <a:t>User Mgmt Table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154680"/>
            <a:ext cx="11521440" cy="822960"/>
          </a:xfrm>
          <a:prstGeom prst="rect">
            <a:avLst/>
          </a:prstGeom>
          <a:solidFill>
            <a:srgbClr val="2D2D4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3154680"/>
            <a:ext cx="164592" cy="8229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322783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Enrichment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8880" y="3246120"/>
            <a:ext cx="1783080" cy="640080"/>
          </a:xfrm>
          <a:prstGeom prst="rect">
            <a:avLst/>
          </a:prstGeom>
          <a:solidFill>
            <a:srgbClr val="1E1E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542032" y="33375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5E7EB"/>
                </a:solidFill>
              </a:rPr>
              <a:t>Profile Photos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343399" y="3246120"/>
            <a:ext cx="1783080" cy="640080"/>
          </a:xfrm>
          <a:prstGeom prst="rect">
            <a:avLst/>
          </a:prstGeom>
          <a:solidFill>
            <a:srgbClr val="1E1E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16551" y="33375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5E7EB"/>
                </a:solidFill>
              </a:rPr>
              <a:t>Emoji Reactions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17918" y="3246120"/>
            <a:ext cx="1783080" cy="640080"/>
          </a:xfrm>
          <a:prstGeom prst="rect">
            <a:avLst/>
          </a:prstGeom>
          <a:solidFill>
            <a:srgbClr val="1E1E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91070" y="33375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5E7EB"/>
                </a:solidFill>
              </a:rPr>
              <a:t>Multi-Assignee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92437" y="3246120"/>
            <a:ext cx="1783080" cy="640080"/>
          </a:xfrm>
          <a:prstGeom prst="rect">
            <a:avLst/>
          </a:prstGeom>
          <a:solidFill>
            <a:srgbClr val="1E1E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65589" y="33375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5E7EB"/>
                </a:solidFill>
              </a:rPr>
              <a:t>Board Discussion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966956" y="3246120"/>
            <a:ext cx="1783080" cy="640080"/>
          </a:xfrm>
          <a:prstGeom prst="rect">
            <a:avLst/>
          </a:prstGeom>
          <a:solidFill>
            <a:srgbClr val="1E1E2E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40108" y="33375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5E7EB"/>
                </a:solidFill>
              </a:rPr>
              <a:t>Optimistic UI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" y="4160520"/>
            <a:ext cx="11521440" cy="822960"/>
          </a:xfrm>
          <a:prstGeom prst="rect">
            <a:avLst/>
          </a:prstGeom>
          <a:solidFill>
            <a:srgbClr val="2D2D44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20040" y="4160520"/>
            <a:ext cx="164592" cy="8229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4360" y="423367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</a:rPr>
              <a:t>Advanced Features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68880" y="4251960"/>
            <a:ext cx="1783080" cy="640080"/>
          </a:xfrm>
          <a:prstGeom prst="rect">
            <a:avLst/>
          </a:prstGeom>
          <a:solidFill>
            <a:srgbClr val="1E1E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42032" y="4343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5E7EB"/>
                </a:solidFill>
              </a:rPr>
              <a:t>@Mentions + Email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343399" y="4251960"/>
            <a:ext cx="1783080" cy="640080"/>
          </a:xfrm>
          <a:prstGeom prst="rect">
            <a:avLst/>
          </a:prstGeom>
          <a:solidFill>
            <a:srgbClr val="1E1E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16551" y="4343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5E7EB"/>
                </a:solidFill>
              </a:rPr>
              <a:t>JIRA Modal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217918" y="4251960"/>
            <a:ext cx="1783080" cy="640080"/>
          </a:xfrm>
          <a:prstGeom prst="rect">
            <a:avLst/>
          </a:prstGeom>
          <a:solidFill>
            <a:srgbClr val="1E1E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291070" y="4343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5E7EB"/>
                </a:solidFill>
              </a:rPr>
              <a:t>Pin Comments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092437" y="4251960"/>
            <a:ext cx="1783080" cy="640080"/>
          </a:xfrm>
          <a:prstGeom prst="rect">
            <a:avLst/>
          </a:prstGeom>
          <a:solidFill>
            <a:srgbClr val="1E1E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165589" y="4343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5E7EB"/>
                </a:solidFill>
              </a:rPr>
              <a:t>Toast + Dialogs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966956" y="4251960"/>
            <a:ext cx="1783080" cy="640080"/>
          </a:xfrm>
          <a:prstGeom prst="rect">
            <a:avLst/>
          </a:prstGeom>
          <a:solidFill>
            <a:srgbClr val="1E1E2E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040108" y="43434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E5E7EB"/>
                </a:solidFill>
              </a:rPr>
              <a:t>Pagination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5166360"/>
            <a:ext cx="11521440" cy="822960"/>
          </a:xfrm>
          <a:prstGeom prst="rect">
            <a:avLst/>
          </a:prstGeom>
          <a:solidFill>
            <a:srgbClr val="28283A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20040" y="5166360"/>
            <a:ext cx="164592" cy="822960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4360" y="523951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CA3AF"/>
                </a:solidFill>
              </a:rPr>
              <a:t>Version 2 (Planned)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468880" y="5257800"/>
            <a:ext cx="1783080" cy="640080"/>
          </a:xfrm>
          <a:prstGeom prst="rect">
            <a:avLst/>
          </a:prstGeom>
          <a:solidFill>
            <a:srgbClr val="2D2D3A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542032" y="5349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CA3AF"/>
                </a:solidFill>
              </a:rPr>
              <a:t>SSO Authentication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43399" y="5257800"/>
            <a:ext cx="1783080" cy="640080"/>
          </a:xfrm>
          <a:prstGeom prst="rect">
            <a:avLst/>
          </a:prstGeom>
          <a:solidFill>
            <a:srgbClr val="2D2D3A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416551" y="5349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CA3AF"/>
                </a:solidFill>
              </a:rPr>
              <a:t>Mobile Responsive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217918" y="5257800"/>
            <a:ext cx="1783080" cy="640080"/>
          </a:xfrm>
          <a:prstGeom prst="rect">
            <a:avLst/>
          </a:prstGeom>
          <a:solidFill>
            <a:srgbClr val="2D2D3A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291070" y="5349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CA3AF"/>
                </a:solidFill>
              </a:rPr>
              <a:t>Custom Task Fields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092437" y="5257800"/>
            <a:ext cx="1783080" cy="640080"/>
          </a:xfrm>
          <a:prstGeom prst="rect">
            <a:avLst/>
          </a:prstGeom>
          <a:solidFill>
            <a:srgbClr val="2D2D3A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65589" y="5349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CA3AF"/>
                </a:solidFill>
              </a:rPr>
              <a:t>Analytics Charts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966956" y="5257800"/>
            <a:ext cx="1783080" cy="640080"/>
          </a:xfrm>
          <a:prstGeom prst="rect">
            <a:avLst/>
          </a:prstGeom>
          <a:solidFill>
            <a:srgbClr val="2D2D3A"/>
          </a:solidFill>
          <a:ln w="12700">
            <a:solidFill>
              <a:srgbClr val="4B55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040108" y="5349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9CA3AF"/>
                </a:solidFill>
              </a:rPr>
              <a:t>Sub-tasks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789920" y="438912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</a:rPr>
              <a:t>▲ V1 Shipped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789920" y="512064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9CA3AF"/>
                </a:solidFill>
              </a:rPr>
              <a:t>▲ V2 Planned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 — Bug → Fix Mapping Table  (Part 1 of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112471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133856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07008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207008"/>
            <a:ext cx="2057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Bug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207008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Root Cause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207008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Fix Applied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36192"/>
            <a:ext cx="11338560" cy="512064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581912"/>
            <a:ext cx="640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</a:rPr>
              <a:t>DB-01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581912"/>
            <a:ext cx="2057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</a:rPr>
              <a:t>Seed crashes — DATABASE_URL undefined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1581912"/>
            <a:ext cx="3383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</a:rPr>
              <a:t>dotenv loaded after PrismaClient import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581912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Move dotenv/config to first line of seed.ts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084832"/>
            <a:ext cx="11338560" cy="512064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130552"/>
            <a:ext cx="640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</a:rPr>
              <a:t>DB-02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130552"/>
            <a:ext cx="2057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</a:rPr>
              <a:t>Prisma can't find datasource URL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130552"/>
            <a:ext cx="3383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</a:rPr>
              <a:t>Prisma v7 requires explicit url in schema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130552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Add url = env("DATABASE_URL") to datasource block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633472"/>
            <a:ext cx="11338560" cy="512064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679192"/>
            <a:ext cx="640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F4444"/>
                </a:solidFill>
              </a:rPr>
              <a:t>DB-03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2679192"/>
            <a:ext cx="2057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</a:rPr>
              <a:t>Prisma runtime driver error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2679192"/>
            <a:ext cx="3383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</a:rPr>
              <a:t>Prisma v7 requires explicit pg adapter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679192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Pass @prisma/adapter-pg to PrismaClient constructor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182112"/>
            <a:ext cx="11338560" cy="512064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227832"/>
            <a:ext cx="640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API-01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3227832"/>
            <a:ext cx="2057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</a:rPr>
              <a:t>400 creating unassigned task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3227832"/>
            <a:ext cx="3383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</a:rPr>
              <a:t>Validation rejected null assignedUserId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227832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Allow null in task creation validation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730752"/>
            <a:ext cx="11338560" cy="512064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3776472"/>
            <a:ext cx="640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>UI-01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3776472"/>
            <a:ext cx="2057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</a:rPr>
              <a:t>To Do column border invisible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3776472"/>
            <a:ext cx="3383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</a:rPr>
              <a:t>Background and border CSS classes conflicted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3776472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Split into separate bg/border colour classes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279392"/>
            <a:ext cx="11338560" cy="512064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325112"/>
            <a:ext cx="640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API-02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4325112"/>
            <a:ext cx="2057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</a:rPr>
              <a:t>Runtime crash on empty API response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4325112"/>
            <a:ext cx="3383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</a:rPr>
              <a:t>.json() called unconditionally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4325112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Guard with content-type check before parsing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4828032"/>
            <a:ext cx="11338560" cy="512064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4873752"/>
            <a:ext cx="640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>RX-01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4873752"/>
            <a:ext cx="2057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</a:rPr>
              <a:t>Duplicate emoji reactions submitted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0" y="4873752"/>
            <a:ext cx="3383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</a:rPr>
              <a:t>No in-flight guard on reaction requests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4873752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Added in-flight Set to block concurrent requests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376672"/>
            <a:ext cx="11338560" cy="512064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5422392"/>
            <a:ext cx="640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>UI-02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" y="5422392"/>
            <a:ext cx="2057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</a:rPr>
              <a:t>Empty board on fetch failure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0" y="5422392"/>
            <a:ext cx="3383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</a:rPr>
              <a:t>Error silently swallowed in catch block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0" y="5422392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Set error state; render banner with Retry button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5925312"/>
            <a:ext cx="11338560" cy="512064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5971032"/>
            <a:ext cx="6400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>RX-02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51560" y="5971032"/>
            <a:ext cx="20574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</a:rPr>
              <a:t>Reaction button disabled state inverted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00400" y="5971032"/>
            <a:ext cx="3383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</a:rPr>
              <a:t>Boolean expression negated incorrectly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75120" y="5971032"/>
            <a:ext cx="484632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Corrected the disabled prop logic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65760" y="65836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9CA3AF"/>
                </a:solidFill>
              </a:rPr>
              <a:t>9 of 17 bugs shown — continued on next slide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04 — Bug → Fix Mapping Table  (Part 2 of 2)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112471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11338560" cy="34747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07008"/>
            <a:ext cx="6400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207008"/>
            <a:ext cx="20574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Bug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207008"/>
            <a:ext cx="33832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Root Cause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207008"/>
            <a:ext cx="48463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Fix Applied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536192"/>
            <a:ext cx="11338560" cy="56692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581912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BD-01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1581912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</a:rPr>
              <a:t>GET 500 after pin schema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1581912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</a:rPr>
              <a:t>Stale cached Prisma client missing new fields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1581912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Added try-catch fallback query omitting pinned fields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139696"/>
            <a:ext cx="11338560" cy="566928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2185416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BD-02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185416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</a:rPr>
              <a:t>Input cleared even when POST fails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185416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</a:rPr>
              <a:t>Clear/re-fetch not gated on response.ok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2185416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Added if (!response.ok) return guard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743200"/>
            <a:ext cx="11338560" cy="56692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2788920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MN-01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2788920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</a:rPr>
              <a:t>Mention dropdown invisible in 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0" y="278892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</a:rPr>
              <a:t>Clipped by overflow:hidden on parent container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788920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Rendered dropdown via createPortal with position:fixed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346704"/>
            <a:ext cx="11338560" cy="566928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392424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97316"/>
                </a:solidFill>
              </a:rPr>
              <a:t>MN-02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" y="3392424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</a:rPr>
              <a:t>'undefined mentioned you' in email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3392424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</a:rPr>
              <a:t>Middleware not forwarding x-user-name header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75120" y="3392424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Added x-user-name injection in middleware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950208"/>
            <a:ext cx="11338560" cy="56692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3995928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</a:rPr>
              <a:t>DB-04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3995928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</a:rPr>
              <a:t>P2022 column not found on POST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00400" y="3995928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</a:rPr>
              <a:t>pinned/pinnedAt in schema but migration not run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3995928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Generated and applied Prisma migration for columns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4553712"/>
            <a:ext cx="11338560" cy="566928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4599432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BD-03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4599432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</a:rPr>
              <a:t>Pin state resets after task interaction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400" y="4599432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</a:rPr>
              <a:t>Promise.all failure wiped board comment state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4599432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Decoupled board and task comment fetches independently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157216"/>
            <a:ext cx="11338560" cy="56692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65760" y="5202936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</a:rPr>
              <a:t>DT-01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" y="5202936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</a:rPr>
              <a:t>Past dates accepted in task creation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00400" y="5202936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</a:rPr>
              <a:t>No min-date validation in UI or API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75120" y="5202936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Added min=today to input + server-side 422 validation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5760720"/>
            <a:ext cx="11338560" cy="566928"/>
          </a:xfrm>
          <a:prstGeom prst="rect">
            <a:avLst/>
          </a:prstGeom>
          <a:solidFill>
            <a:srgbClr val="252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5760" y="5806440"/>
            <a:ext cx="640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78BFA"/>
                </a:solidFill>
              </a:rPr>
              <a:t>UM-01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" y="5806440"/>
            <a:ext cx="2057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5E7EB"/>
                </a:solidFill>
              </a:rPr>
              <a:t>Admin could deactivate own account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00400" y="5806440"/>
            <a:ext cx="33832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9CA3AF"/>
                </a:solidFill>
              </a:rPr>
              <a:t>No self-edit guard on status field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0" y="5806440"/>
            <a:ext cx="48463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Added guard comparing target ID to caller ID → 403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6400800"/>
            <a:ext cx="11338560" cy="38404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8640" y="644652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A78BFA"/>
                </a:solidFill>
              </a:rPr>
              <a:t>17 bugs total  ·  All resolved  ·  Each fix verified before next feature was added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05 — Prompt → Result Examples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112471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577840" cy="2331720"/>
          </a:xfrm>
          <a:prstGeom prst="rect">
            <a:avLst/>
          </a:prstGeom>
          <a:solidFill>
            <a:srgbClr val="2D2D44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188720"/>
            <a:ext cx="5577840" cy="29260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22529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1 — Scaffold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53619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7C3AED"/>
                </a:solidFill>
              </a:rPr>
              <a:t>PROMPT: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719072"/>
            <a:ext cx="5349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5E7EB"/>
                </a:solidFill>
              </a:rPr>
              <a:t>Set up a full-stack RIO Task web application using Next.js, PostgreSQL, and Prisma with TypeScript and Tailwind CSS.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245059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RESULT: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633472"/>
            <a:ext cx="5349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</a:rPr>
              <a:t>Generated complete project structure: package.json, Prisma schema with 6 models, environment config, seed file with default admin account, and TypeScript + Tailwind setup.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703320"/>
            <a:ext cx="5577840" cy="2331720"/>
          </a:xfrm>
          <a:prstGeom prst="rect">
            <a:avLst/>
          </a:prstGeom>
          <a:solidFill>
            <a:srgbClr val="2D2D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5760" y="3703320"/>
            <a:ext cx="5577840" cy="29260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373989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2 — Feature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405079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>PROMPT: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4233672"/>
            <a:ext cx="5349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5E7EB"/>
                </a:solidFill>
              </a:rPr>
              <a:t>Build a Jira-inspired UI with a Kanban board, drag-and-drop, task CRUD modal, comments section, and user management table.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496519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RESULT: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5148072"/>
            <a:ext cx="5349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</a:rPr>
              <a:t>Produced 5 full React components (TaskBoard, TaskModal, CommentSection, UserManagementTable, Sidebar) with @dnd-kit integration, optimistic updates, and role-based UI.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1188720"/>
            <a:ext cx="5577840" cy="2331720"/>
          </a:xfrm>
          <a:prstGeom prst="rect">
            <a:avLst/>
          </a:prstGeom>
          <a:solidFill>
            <a:srgbClr val="2D2D4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6480" y="1188720"/>
            <a:ext cx="5577840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122529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3 — Bug Fix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153619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PROMPT: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8" y="1719072"/>
            <a:ext cx="5349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5E7EB"/>
                </a:solidFill>
              </a:rPr>
              <a:t>Fix the @mention dropdown so it works in the board discussion area. The dropdown is being clipped by overflow:hidden.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36208" y="245059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RESULT: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6208" y="2633472"/>
            <a:ext cx="5349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</a:rPr>
              <a:t>Identified root cause (overflow container), extracted MentionTextarea component, re-implemented dropdown as a portal at document.body with position:fixed using getBoundingClientRect().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6480" y="3703320"/>
            <a:ext cx="5577840" cy="2331720"/>
          </a:xfrm>
          <a:prstGeom prst="rect">
            <a:avLst/>
          </a:prstGeom>
          <a:solidFill>
            <a:srgbClr val="2D2D44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6480" y="3703320"/>
            <a:ext cx="5577840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36208" y="3739896"/>
            <a:ext cx="53035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Step 4 — Refinement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36208" y="405079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59E0B"/>
                </a:solidFill>
              </a:rPr>
              <a:t>PROMPT: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36208" y="4233672"/>
            <a:ext cx="53492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E5E7EB"/>
                </a:solidFill>
              </a:rPr>
              <a:t>Redesign the task modal in JIRA style with a two-column layout. Left: title, description, activity. Right: status, priority, due date, assignees.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36208" y="4965192"/>
            <a:ext cx="914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0B981"/>
                </a:solidFill>
              </a:rPr>
              <a:t>RESULT: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36208" y="5148072"/>
            <a:ext cx="53492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E5E7EB"/>
                </a:solidFill>
              </a:rPr>
              <a:t>Rebuilt TaskModal in edit mode as a wide two-column layout, preserved compact single-column for create mode, added live status badge and priority dot in header.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9CA3AF"/>
                </a:solidFill>
              </a:rPr>
              <a:t>Each feature followed an iterative prompt → test → refine cycle.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06 — Results &amp; Observations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112471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A78BFA"/>
                </a:solidFill>
              </a:rPr>
              <a:t>What We Found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508760"/>
            <a:ext cx="5532120" cy="4389120"/>
          </a:xfrm>
          <a:prstGeom prst="rect">
            <a:avLst/>
          </a:prstGeom>
          <a:solidFill>
            <a:srgbClr val="2D2D44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532120" cy="34747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52704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✓  Strengths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40"/>
            <a:ext cx="5257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• Rapidly scaffolded full-stack applications from a single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560320"/>
            <a:ext cx="5257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• Consistently produced working, runnable code on the first attempt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00400"/>
            <a:ext cx="5257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• Efficiently debugged issues when given clear error descriptions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840480"/>
            <a:ext cx="5257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• Implemented complex features (drag-and-drop, portals, optimistic UI) correctly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480560"/>
            <a:ext cx="5257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• Maintained code consistency across 46 commits and 4 development phases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5120640"/>
            <a:ext cx="5257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• Handled iterative refinement well — each follow-up prompt improved the output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508760"/>
            <a:ext cx="5532120" cy="4389120"/>
          </a:xfrm>
          <a:prstGeom prst="rect">
            <a:avLst/>
          </a:prstGeom>
          <a:solidFill>
            <a:srgbClr val="2D2D44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508760"/>
            <a:ext cx="5532120" cy="34747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527048"/>
            <a:ext cx="53035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1E2E"/>
                </a:solidFill>
              </a:rPr>
              <a:t>△  Limitations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920240"/>
            <a:ext cx="5257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• Prioritised making code work over enforcing architectural best practices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560320"/>
            <a:ext cx="5257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• Required human direction to decide when and what to build next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3200400"/>
            <a:ext cx="5257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• Occasionally introduced technical debt that needed follow-up correction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840480"/>
            <a:ext cx="5257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• Could not self-detect missing database migrations without being told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480560"/>
            <a:ext cx="5257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• No automated testing was written — all verification was manual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5120640"/>
            <a:ext cx="5257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5E7EB"/>
                </a:solidFill>
              </a:rPr>
              <a:t>• Architecture decisions still required developer review and guidance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989320"/>
            <a:ext cx="11338560" cy="77724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5989320"/>
            <a:ext cx="164592" cy="7772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603504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E5E7EB"/>
                </a:solidFill>
              </a:rPr>
              <a:t>Verdict: Claude Code is extremely powerful for prototyping and rapid development. The system functions correctly, but the output currently sits closer to a well-developed demo than a fully production-ready system. Human oversight for architecture and best practices remains essential.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Version 2 — Planned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822960"/>
            <a:ext cx="112471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9CA3AF"/>
                </a:solidFill>
              </a:rPr>
              <a:t>Version 2 features are intentionally designed to increase complexity and further test AI's ability to handle sophisticated software architecture.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91640"/>
            <a:ext cx="11338560" cy="841248"/>
          </a:xfrm>
          <a:prstGeom prst="rect">
            <a:avLst/>
          </a:prstGeom>
          <a:solidFill>
            <a:srgbClr val="2D2D44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691640"/>
            <a:ext cx="164592" cy="841248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76479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7C3AED"/>
                </a:solidFill>
              </a:rPr>
              <a:t>🔑 Single Sign-On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23360" y="1801368"/>
            <a:ext cx="749807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OAuth 2.0 / SAML integration with enterprise identity providers. Tests complex auth flows.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1874520"/>
            <a:ext cx="36576" cy="475488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651760"/>
            <a:ext cx="11338560" cy="841248"/>
          </a:xfrm>
          <a:prstGeom prst="rect">
            <a:avLst/>
          </a:prstGeom>
          <a:solidFill>
            <a:srgbClr val="2D2D44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651760"/>
            <a:ext cx="164592" cy="8412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72491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8BDF8"/>
                </a:solidFill>
              </a:rPr>
              <a:t>📱 Mobile Responsive UI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2761488"/>
            <a:ext cx="749807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Full mobile layout overhaul. Tests whether AI can manage responsive breakpoints at scale.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2834640"/>
            <a:ext cx="36576" cy="475488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611880"/>
            <a:ext cx="11338560" cy="841248"/>
          </a:xfrm>
          <a:prstGeom prst="rect">
            <a:avLst/>
          </a:prstGeom>
          <a:solidFill>
            <a:srgbClr val="2D2D4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611880"/>
            <a:ext cx="164592" cy="8412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68503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🏷 Custom Task Fields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3721608"/>
            <a:ext cx="749807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User-defined fields per task (dropdowns, dates, numbers). Tests dynamic schema management.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840480" y="3794760"/>
            <a:ext cx="36576" cy="475488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572000"/>
            <a:ext cx="11338560" cy="841248"/>
          </a:xfrm>
          <a:prstGeom prst="rect">
            <a:avLst/>
          </a:prstGeom>
          <a:solidFill>
            <a:srgbClr val="2D2D44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572000"/>
            <a:ext cx="164592" cy="8412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464515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📊 Analytics Dashboard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4681728"/>
            <a:ext cx="749807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Charts and reports for task throughput, team velocity, burndown. Tests data visualisation code.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4754880"/>
            <a:ext cx="36576" cy="475488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5532120"/>
            <a:ext cx="11338560" cy="841248"/>
          </a:xfrm>
          <a:prstGeom prst="rect">
            <a:avLst/>
          </a:prstGeom>
          <a:solidFill>
            <a:srgbClr val="2D2D44"/>
          </a:solidFill>
          <a:ln w="1270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5532120"/>
            <a:ext cx="164592" cy="84124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" y="5605272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97316"/>
                </a:solidFill>
              </a:rPr>
              <a:t>🔀 Sub-tasks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023360" y="5641848"/>
            <a:ext cx="7498079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5E7EB"/>
                </a:solidFill>
              </a:rPr>
              <a:t>Hierarchical tasks with progress rollup to parent. Tests recursive data structures and UI.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840480" y="5715000"/>
            <a:ext cx="36576" cy="475488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3796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A78BFA"/>
                </a:solidFill>
              </a:rPr>
              <a:t>Goal: Determine whether AI can handle enterprise-grade architecture decisions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371600"/>
            <a:ext cx="12188952" cy="4114800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71600"/>
            <a:ext cx="274320" cy="4114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07 — Conclusion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22960"/>
            <a:ext cx="11247120" cy="36576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5087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78BFA"/>
                </a:solidFill>
              </a:rPr>
              <a:t>Key Takeaways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🚀 Speed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01168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</a:rPr>
              <a:t>AI coding tools like Claude Code can build a full-stack web application in 4 days that would traditionally take weeks.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06624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✅ Capability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706624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</a:rPr>
              <a:t>Claude Code successfully implemented 16 features spanning auth, UI, APIs, email, real-time UX, and admin tooling.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401568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⚠️ Oversight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401568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</a:rPr>
              <a:t>The AI prioritises working code over best practices — human architectural direction is still required.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096512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📋 Process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4096512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</a:rPr>
              <a:t>AI produces better results with clear prompts, structured requirements, and detailed documentation provided upfront.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791456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🎯 Verdict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791456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E7EB"/>
                </a:solidFill>
              </a:rPr>
              <a:t>Version 1 is a well-developed demo. With more structured guidance, Version 2 aims to close the gap to production.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5852160"/>
            <a:ext cx="12188952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961888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Task Management System — Version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309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CA3AF"/>
                </a:solidFill>
              </a:rPr>
              <a:t>Built entirely with Claude Code  ·  March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61264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 i="0">
                <a:solidFill>
                  <a:srgbClr val="A78BFA"/>
                </a:solidFill>
              </a:rPr>
              <a:t>github.com/Zihern-sudo/TaskManagementSystem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